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6156E-31A4-4C18-B5C3-0379C4BA621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52049-230D-4F73-8669-E59A44B2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5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52049-230D-4F73-8669-E59A44B27D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80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92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6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9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8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4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3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0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7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76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21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3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43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6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64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9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4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46017D0-8146-4B14-A31B-587A6B15CE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CEAAE4-C3D0-426D-98A9-F9F17DFF6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487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E6C9B-7E86-2080-E2E1-10F35C6753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Sinograph</a:t>
            </a:r>
            <a:r>
              <a:rPr lang="en-US" b="1" dirty="0"/>
              <a:t> Explorer</a:t>
            </a:r>
            <a:endParaRPr 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A01A11-513E-F8B4-606C-AC3508B174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Track 2: Custom DNN Model</a:t>
            </a:r>
          </a:p>
          <a:p>
            <a:r>
              <a:rPr lang="en-US" dirty="0"/>
              <a:t>Yoonkyu Lee</a:t>
            </a:r>
          </a:p>
          <a:p>
            <a:r>
              <a:rPr lang="en-US" dirty="0"/>
              <a:t>TA:  Jinghua &amp; Paul</a:t>
            </a:r>
          </a:p>
        </p:txBody>
      </p:sp>
    </p:spTree>
    <p:extLst>
      <p:ext uri="{BB962C8B-B14F-4D97-AF65-F5344CB8AC3E}">
        <p14:creationId xmlns:p14="http://schemas.microsoft.com/office/powerpoint/2010/main" val="2467738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1CF68-FC7D-EF41-3E85-9476AF770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FF0BEF-6452-12B8-D84A-729534C44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2812" y="1825625"/>
            <a:ext cx="4080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← BMP: everyday Chinese/Japanese/Korean text lives here</a:t>
            </a:r>
            <a:br>
              <a:rPr lang="en-US" dirty="0"/>
            </a:br>
            <a:r>
              <a:rPr lang="en-US" dirty="0"/>
              <a:t>(as well as some region specific characters)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← SMP: uncommon / historical / dialectal / newly-standardized characters lives here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C17784-B2FF-82BA-AD10-7A54061406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858"/>
          <a:stretch>
            <a:fillRect/>
          </a:stretch>
        </p:blipFill>
        <p:spPr>
          <a:xfrm>
            <a:off x="841600" y="1838664"/>
            <a:ext cx="6431211" cy="458636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B795D86-060A-341B-3E78-430223C9F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163" y="5369863"/>
            <a:ext cx="814118" cy="8071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6179661-D995-B6F4-DB3B-9B789A3F4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7" y="5572419"/>
            <a:ext cx="924054" cy="104789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B51A116-838E-8948-7791-62B15DD70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3139" y="547139"/>
            <a:ext cx="1000265" cy="104789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1FFAA6-83F2-13F7-C475-3B5225C728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610" y="5591471"/>
            <a:ext cx="981212" cy="102884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253D24C-A20D-EE2A-3E9B-2327073E3E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6887" y="5386660"/>
            <a:ext cx="1066949" cy="103837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A7B95D5-5910-F999-9CCE-5C83B2A418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5709" y="346608"/>
            <a:ext cx="1152686" cy="118126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5267C03-9141-C3D9-0F6D-F21FCE1284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793" y="174815"/>
            <a:ext cx="1254050" cy="138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32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01CBA-0DC5-B12E-8F53-D060BB32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B6BC8-CF6C-9D14-1203-C4976BAEF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i="1" dirty="0"/>
              <a:t>Implementing OCR that reads Chinese characters including uncommon characters, CJK Ext B, and variant forms that commodity engines miss.</a:t>
            </a:r>
          </a:p>
          <a:p>
            <a:r>
              <a:rPr lang="en-US" sz="2400" i="1" dirty="0"/>
              <a:t>“</a:t>
            </a:r>
            <a:r>
              <a:rPr lang="en-US" sz="2400" i="1" dirty="0" err="1"/>
              <a:t>Sinograph</a:t>
            </a:r>
            <a:r>
              <a:rPr lang="en-US" sz="2400" i="1" dirty="0"/>
              <a:t>” means any individual logographic character used in the Chinese writing system.</a:t>
            </a:r>
          </a:p>
          <a:p>
            <a:r>
              <a:rPr lang="en-US" sz="1400" dirty="0"/>
              <a:t>Traditional Chinese Characters </a:t>
            </a:r>
            <a:endParaRPr lang="en-US" sz="1400" i="1" dirty="0"/>
          </a:p>
          <a:p>
            <a:r>
              <a:rPr lang="en-US" sz="1400" dirty="0" err="1"/>
              <a:t>Jiantizi</a:t>
            </a:r>
            <a:r>
              <a:rPr lang="en-US" sz="1400" dirty="0"/>
              <a:t> (Mainland Simplified)</a:t>
            </a:r>
          </a:p>
          <a:p>
            <a:r>
              <a:rPr lang="en-US" sz="1400" dirty="0"/>
              <a:t>Hanja (Korean)</a:t>
            </a:r>
          </a:p>
          <a:p>
            <a:r>
              <a:rPr lang="en-US" sz="1400" dirty="0"/>
              <a:t>Kanji, Shinjitai (Japanese)</a:t>
            </a:r>
          </a:p>
          <a:p>
            <a:r>
              <a:rPr lang="en-US" sz="1400" dirty="0" err="1"/>
              <a:t>chữ</a:t>
            </a:r>
            <a:r>
              <a:rPr lang="en-US" sz="1400" dirty="0"/>
              <a:t> </a:t>
            </a:r>
            <a:r>
              <a:rPr lang="en-US" sz="1400" dirty="0" err="1"/>
              <a:t>Nôm</a:t>
            </a:r>
            <a:r>
              <a:rPr lang="en-US" sz="1400" dirty="0"/>
              <a:t> (Vietnamese)</a:t>
            </a:r>
          </a:p>
          <a:p>
            <a:r>
              <a:rPr lang="en-US" sz="1400" dirty="0"/>
              <a:t>…</a:t>
            </a:r>
          </a:p>
        </p:txBody>
      </p:sp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0D664931-4FB7-3869-15C2-B7B677D3DB59}"/>
              </a:ext>
            </a:extLst>
          </p:cNvPr>
          <p:cNvSpPr/>
          <p:nvPr/>
        </p:nvSpPr>
        <p:spPr>
          <a:xfrm>
            <a:off x="3755791" y="3429000"/>
            <a:ext cx="552322" cy="25897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9BAE2-B698-E291-9916-4BF2B8010D54}"/>
              </a:ext>
            </a:extLst>
          </p:cNvPr>
          <p:cNvSpPr txBox="1"/>
          <p:nvPr/>
        </p:nvSpPr>
        <p:spPr>
          <a:xfrm>
            <a:off x="4649769" y="4161729"/>
            <a:ext cx="5859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⊂ </a:t>
            </a:r>
            <a:r>
              <a:rPr lang="en-US" sz="6000" dirty="0" err="1"/>
              <a:t>Sinographs</a:t>
            </a:r>
            <a:r>
              <a:rPr lang="en-US" sz="6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914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F46A0-928A-47BC-2C71-E65380EB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433" y="87086"/>
            <a:ext cx="10131425" cy="1456267"/>
          </a:xfrm>
        </p:spPr>
        <p:txBody>
          <a:bodyPr/>
          <a:lstStyle/>
          <a:p>
            <a:r>
              <a:rPr lang="en-US" dirty="0"/>
              <a:t>Overall Workflow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38F829-2A39-EB3A-03E7-DFD83D2BF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3" y="1230573"/>
            <a:ext cx="6959812" cy="535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40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265C78-5345-7F7B-CE6D-FEAD76E6D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810" y="2125302"/>
            <a:ext cx="6104680" cy="32987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AE050E3-379C-CB60-65CC-F6190CBE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08" y="0"/>
            <a:ext cx="10131425" cy="1456267"/>
          </a:xfrm>
        </p:spPr>
        <p:txBody>
          <a:bodyPr/>
          <a:lstStyle/>
          <a:p>
            <a:r>
              <a:rPr lang="en-US" dirty="0"/>
              <a:t>Canonical DB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4DAFCC-176D-AE1F-84EC-6948D2ECE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455" y="1825625"/>
            <a:ext cx="6522179" cy="4351338"/>
          </a:xfrm>
        </p:spPr>
        <p:txBody>
          <a:bodyPr>
            <a:noAutofit/>
          </a:bodyPr>
          <a:lstStyle/>
          <a:p>
            <a:r>
              <a:rPr lang="en-US" sz="2400" dirty="0"/>
              <a:t>Despite not being the Track-2 contribution directly, the DB is the prerequisite for structure-aware training.</a:t>
            </a:r>
          </a:p>
          <a:p>
            <a:pPr marL="0" indent="0">
              <a:buNone/>
            </a:pPr>
            <a:r>
              <a:rPr lang="en-US" sz="2400" dirty="0"/>
              <a:t>Useful fields (per codepoint):</a:t>
            </a:r>
          </a:p>
          <a:p>
            <a:r>
              <a:rPr lang="en-US" sz="2400" dirty="0"/>
              <a:t>radical (1–214) - classical radical index</a:t>
            </a:r>
          </a:p>
          <a:p>
            <a:r>
              <a:rPr lang="en-US" sz="2400" dirty="0" err="1"/>
              <a:t>total_strokes</a:t>
            </a:r>
            <a:r>
              <a:rPr lang="en-US" sz="2400" dirty="0"/>
              <a:t> + </a:t>
            </a:r>
            <a:r>
              <a:rPr lang="en-US" sz="2400" dirty="0" err="1"/>
              <a:t>residual_strokes</a:t>
            </a:r>
            <a:endParaRPr lang="en-US" sz="2400" dirty="0"/>
          </a:p>
          <a:p>
            <a:r>
              <a:rPr lang="en-US" sz="2400" dirty="0"/>
              <a:t>IDS decomposition tree (e.g. </a:t>
            </a:r>
            <a:r>
              <a:rPr lang="ko-KR" altLang="en-US" sz="2400" dirty="0"/>
              <a:t>鑑 </a:t>
            </a:r>
            <a:r>
              <a:rPr lang="en-US" altLang="ko-KR" sz="2400" dirty="0"/>
              <a:t>= </a:t>
            </a:r>
            <a:r>
              <a:rPr lang="en-US" sz="2400" dirty="0"/>
              <a:t>⿰</a:t>
            </a:r>
            <a:r>
              <a:rPr lang="ko-KR" altLang="en-US" sz="2400" dirty="0"/>
              <a:t>金監</a:t>
            </a:r>
            <a:r>
              <a:rPr lang="en-US" altLang="ko-KR" sz="2400" dirty="0"/>
              <a:t>)</a:t>
            </a:r>
          </a:p>
          <a:p>
            <a:r>
              <a:rPr lang="en-US" sz="2400" dirty="0"/>
              <a:t>IDS top-level IDC (12-way layout: ⿰⿱⿲⿳⿴⿵⿶⿷⿸⿹⿺⿻)</a:t>
            </a:r>
          </a:p>
          <a:p>
            <a:r>
              <a:rPr lang="en-US" sz="2400" dirty="0"/>
              <a:t>variant family + canonical representative (for evaluation)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FBA8E-4035-B708-EEB2-48682DD503F4}"/>
              </a:ext>
            </a:extLst>
          </p:cNvPr>
          <p:cNvSpPr txBox="1"/>
          <p:nvPr/>
        </p:nvSpPr>
        <p:spPr>
          <a:xfrm>
            <a:off x="6769634" y="5559021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en.wikipedia.org/wiki/Kangxi_radicals</a:t>
            </a:r>
          </a:p>
        </p:txBody>
      </p:sp>
    </p:spTree>
    <p:extLst>
      <p:ext uri="{BB962C8B-B14F-4D97-AF65-F5344CB8AC3E}">
        <p14:creationId xmlns:p14="http://schemas.microsoft.com/office/powerpoint/2010/main" val="295082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B367B-8AB8-9554-5BDE-42CCBB47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 Engine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F11D46-7689-6F5D-24CC-455541D86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kind of </a:t>
            </a:r>
            <a:r>
              <a:rPr lang="en-US" dirty="0" err="1"/>
              <a:t>sinograph</a:t>
            </a:r>
            <a:r>
              <a:rPr lang="en-US" dirty="0"/>
              <a:t> (or one codepoint) is a class.</a:t>
            </a:r>
          </a:p>
          <a:p>
            <a:r>
              <a:rPr lang="en-US" dirty="0"/>
              <a:t>Trained 10923 classes until midpoint for experiment</a:t>
            </a:r>
          </a:p>
          <a:p>
            <a:r>
              <a:rPr lang="en-US" dirty="0"/>
              <a:t>Aiming to train 76k classes among 103k </a:t>
            </a:r>
          </a:p>
          <a:p>
            <a:r>
              <a:rPr lang="en-US" dirty="0"/>
              <a:t>Uses font (and SVG if available)</a:t>
            </a:r>
          </a:p>
          <a:p>
            <a:r>
              <a:rPr lang="en-US" dirty="0"/>
              <a:t>Applies randomized augmentation:</a:t>
            </a:r>
          </a:p>
          <a:p>
            <a:r>
              <a:rPr lang="en-US" dirty="0"/>
              <a:t>Perspective, rotation, Gaussian blur, JPEG compression,  chromatic aberration, neon glow, paper texture, elastic warp,  color jitter, inversion, noise, binarization, saturated-background overlay, etc.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31DAD35-CE87-8CC7-B1CA-C689E70A8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013" y="2912574"/>
            <a:ext cx="1526771" cy="1526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59C03E-8FE0-9D09-F8BD-724FC07EA75A}"/>
              </a:ext>
            </a:extLst>
          </p:cNvPr>
          <p:cNvSpPr txBox="1"/>
          <p:nvPr/>
        </p:nvSpPr>
        <p:spPr>
          <a:xfrm>
            <a:off x="5307024" y="3675960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U+7C67 -&gt;</a:t>
            </a:r>
          </a:p>
        </p:txBody>
      </p:sp>
    </p:spTree>
    <p:extLst>
      <p:ext uri="{BB962C8B-B14F-4D97-AF65-F5344CB8AC3E}">
        <p14:creationId xmlns:p14="http://schemas.microsoft.com/office/powerpoint/2010/main" val="2947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128FF-DC4F-DA37-5B41-70A2E630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Engine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F773956-1975-741C-7B1C-98F456BD2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64835"/>
            <a:ext cx="8326012" cy="4010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7F83E0-3DCC-DB19-E11A-8C4E51F94C38}"/>
              </a:ext>
            </a:extLst>
          </p:cNvPr>
          <p:cNvSpPr txBox="1"/>
          <p:nvPr/>
        </p:nvSpPr>
        <p:spPr>
          <a:xfrm>
            <a:off x="894584" y="1428239"/>
            <a:ext cx="832601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dirty="0"/>
              <a:t>Input: RGB 128 × 128 × 3, normalized (pixel/255 − 0.5)/0.5 → [−1, 1].</a:t>
            </a:r>
          </a:p>
          <a:p>
            <a:pPr algn="l">
              <a:spcAft>
                <a:spcPts val="1200"/>
              </a:spcAft>
              <a:buNone/>
            </a:pPr>
            <a:r>
              <a:rPr lang="en-US" dirty="0"/>
              <a:t>ResNet-18 trained from scratch:</a:t>
            </a:r>
          </a:p>
        </p:txBody>
      </p:sp>
    </p:spTree>
    <p:extLst>
      <p:ext uri="{BB962C8B-B14F-4D97-AF65-F5344CB8AC3E}">
        <p14:creationId xmlns:p14="http://schemas.microsoft.com/office/powerpoint/2010/main" val="2279992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C2C24-A9E1-B348-ADE7-D28E1452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Engine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8F28741-3927-3C41-A39C-9E9618AA8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5560"/>
            <a:ext cx="9202434" cy="3029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5D6BFC-C967-3FD7-C34C-DD128A0FE428}"/>
              </a:ext>
            </a:extLst>
          </p:cNvPr>
          <p:cNvSpPr txBox="1"/>
          <p:nvPr/>
        </p:nvSpPr>
        <p:spPr>
          <a:xfrm>
            <a:off x="790255" y="4820775"/>
            <a:ext cx="11170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Loss: L = CE(char) + 0.2·CE(radical) + 0.1·MSE(total) + 0.1·MSE(</a:t>
            </a:r>
            <a:r>
              <a:rPr lang="fr-FR" dirty="0" err="1"/>
              <a:t>residual</a:t>
            </a:r>
            <a:r>
              <a:rPr lang="fr-FR" dirty="0"/>
              <a:t>) + 0.2·CE(IDC)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936DF6-D768-9DE2-1FB0-B92AC9B305C4}"/>
              </a:ext>
            </a:extLst>
          </p:cNvPr>
          <p:cNvSpPr txBox="1"/>
          <p:nvPr/>
        </p:nvSpPr>
        <p:spPr>
          <a:xfrm>
            <a:off x="777598" y="5282440"/>
            <a:ext cx="106368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this design: radical, stroke count, and IDC are exactly the features a human would use to distinguish similar  未/末, 田/由/甲/申, or 媤/媳. The net is forced to attend to them explicitly, rather than hoping pixel-only training discovers them.</a:t>
            </a:r>
          </a:p>
        </p:txBody>
      </p:sp>
    </p:spTree>
    <p:extLst>
      <p:ext uri="{BB962C8B-B14F-4D97-AF65-F5344CB8AC3E}">
        <p14:creationId xmlns:p14="http://schemas.microsoft.com/office/powerpoint/2010/main" val="40772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6F6CF-BB21-EA7A-FCF0-0DF81820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Engine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635BF4-8B1A-F3F9-517D-08E7CC042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448"/>
            <a:ext cx="10515600" cy="4722515"/>
          </a:xfrm>
        </p:spPr>
        <p:txBody>
          <a:bodyPr>
            <a:normAutofit/>
          </a:bodyPr>
          <a:lstStyle/>
          <a:p>
            <a:r>
              <a:rPr lang="en-US" dirty="0"/>
              <a:t>Goal: identify what a character is made of and what it is easy to confuse with. </a:t>
            </a:r>
          </a:p>
          <a:p>
            <a:r>
              <a:rPr lang="en-US" dirty="0"/>
              <a:t>Component multi-label head</a:t>
            </a:r>
          </a:p>
          <a:p>
            <a:pPr lvl="1"/>
            <a:r>
              <a:rPr lang="en-US" dirty="0"/>
              <a:t>Each codepoint carries a multi-hot vector over a shared component vocabulary (e.g. </a:t>
            </a:r>
            <a:r>
              <a:rPr lang="ko-KR" altLang="en-US" dirty="0"/>
              <a:t>鑑 → </a:t>
            </a:r>
            <a:r>
              <a:rPr lang="en-US" altLang="ko-KR" dirty="0"/>
              <a:t>{</a:t>
            </a:r>
            <a:r>
              <a:rPr lang="ko-KR" altLang="en-US" dirty="0"/>
              <a:t>金</a:t>
            </a:r>
            <a:r>
              <a:rPr lang="en-US" altLang="ko-KR" dirty="0"/>
              <a:t>, </a:t>
            </a:r>
            <a:r>
              <a:rPr lang="ko-KR" altLang="en-US" dirty="0"/>
              <a:t>監</a:t>
            </a:r>
            <a:r>
              <a:rPr lang="en-US" altLang="ko-KR" dirty="0"/>
              <a:t>}).</a:t>
            </a:r>
          </a:p>
          <a:p>
            <a:pPr lvl="1"/>
            <a:r>
              <a:rPr lang="en-US" dirty="0"/>
              <a:t>the char head alone learns codepoint identity. the component head forces the backbone to additionally encode </a:t>
            </a:r>
            <a:r>
              <a:rPr lang="en-US" b="1" dirty="0"/>
              <a:t>part identity</a:t>
            </a:r>
            <a:r>
              <a:rPr lang="en-US" dirty="0"/>
              <a:t>. (This is where pixel-only training fails on </a:t>
            </a:r>
            <a:r>
              <a:rPr lang="ko-KR" altLang="en-US" dirty="0"/>
              <a:t>鑑 </a:t>
            </a:r>
            <a:r>
              <a:rPr lang="en-US" altLang="ko-KR" dirty="0"/>
              <a:t>/</a:t>
            </a:r>
            <a:r>
              <a:rPr lang="ko-KR" altLang="en-US" dirty="0"/>
              <a:t>鐱</a:t>
            </a:r>
            <a:r>
              <a:rPr lang="en-US" altLang="ko-KR" dirty="0"/>
              <a:t>)</a:t>
            </a:r>
            <a:endParaRPr lang="en-US" dirty="0"/>
          </a:p>
          <a:p>
            <a:r>
              <a:rPr lang="en-US" dirty="0"/>
              <a:t>Confusable-pair margin loss</a:t>
            </a:r>
          </a:p>
          <a:p>
            <a:pPr lvl="1"/>
            <a:r>
              <a:rPr lang="en-US" dirty="0"/>
              <a:t>The model hard pairs from the validation confusion matrix and from a heuristic (same radical + stroke-count Δ ≤ 1).</a:t>
            </a:r>
          </a:p>
          <a:p>
            <a:pPr lvl="1"/>
            <a:r>
              <a:rPr lang="en-US" dirty="0"/>
              <a:t>Why?: The failure is concentrated on a few hundred visually adjacent pairs (</a:t>
            </a:r>
            <a:r>
              <a:rPr lang="ko-KR" altLang="en-US" dirty="0"/>
              <a:t>鑑</a:t>
            </a:r>
            <a:r>
              <a:rPr lang="en-US" altLang="ko-KR" dirty="0"/>
              <a:t>/</a:t>
            </a:r>
            <a:r>
              <a:rPr lang="ko-KR" altLang="en-US" dirty="0"/>
              <a:t>鍳</a:t>
            </a:r>
            <a:r>
              <a:rPr lang="en-US" altLang="ko-KR" dirty="0"/>
              <a:t>, </a:t>
            </a:r>
            <a:r>
              <a:rPr lang="ko-KR" altLang="en-US" dirty="0"/>
              <a:t>媤</a:t>
            </a:r>
            <a:r>
              <a:rPr lang="en-US" altLang="ko-KR" dirty="0"/>
              <a:t>/</a:t>
            </a:r>
            <a:r>
              <a:rPr lang="ko-KR" altLang="en-US" dirty="0"/>
              <a:t>媳</a:t>
            </a:r>
            <a:r>
              <a:rPr lang="en-US" altLang="ko-KR" dirty="0"/>
              <a:t>, </a:t>
            </a:r>
            <a:r>
              <a:rPr lang="ko-KR" altLang="en-US" dirty="0"/>
              <a:t>未</a:t>
            </a:r>
            <a:r>
              <a:rPr lang="en-US" altLang="ko-KR" dirty="0"/>
              <a:t>/</a:t>
            </a:r>
            <a:r>
              <a:rPr lang="ko-KR" altLang="en-US" dirty="0"/>
              <a:t>末</a:t>
            </a:r>
            <a:r>
              <a:rPr lang="en-US" altLang="ko-KR" dirty="0"/>
              <a:t>, </a:t>
            </a:r>
            <a:r>
              <a:rPr lang="ko-KR" altLang="en-US" dirty="0"/>
              <a:t>𤨒</a:t>
            </a:r>
            <a:r>
              <a:rPr lang="en-US" altLang="ko-KR" dirty="0"/>
              <a:t>/</a:t>
            </a:r>
            <a:r>
              <a:rPr lang="ko-KR" altLang="en-US" dirty="0"/>
              <a:t>璁</a:t>
            </a:r>
            <a:r>
              <a:rPr lang="en-US" altLang="ko-KR" dirty="0"/>
              <a:t>). </a:t>
            </a:r>
            <a:r>
              <a:rPr lang="en-US" dirty="0"/>
              <a:t>A margin loss targets exactly those pairs instead of reweighting.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981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23B79-6D0D-6C9E-F35C-B4778FBE6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Demo Goals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FFEAE9-8DF4-3207-88E7-8D3EBAD87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Pi-hardware inference: actual per-character latency measured on the Raspberry Pi (CPU and Coral TPU) with the INT8 </a:t>
            </a:r>
            <a:r>
              <a:rPr lang="en-US" dirty="0" err="1"/>
              <a:t>TFLite</a:t>
            </a:r>
            <a:r>
              <a:rPr lang="en-US" dirty="0"/>
              <a:t> model. Target: confirm real-time with Coral TPU</a:t>
            </a:r>
          </a:p>
          <a:p>
            <a:r>
              <a:rPr lang="en-US" dirty="0"/>
              <a:t>Accuracy Increase (structure-aware model vs </a:t>
            </a:r>
            <a:r>
              <a:rPr lang="en-US" dirty="0" err="1"/>
              <a:t>softmax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image benchmark</a:t>
            </a:r>
          </a:p>
          <a:p>
            <a:pPr lvl="1"/>
            <a:r>
              <a:rPr lang="en-US" dirty="0"/>
              <a:t>a new confusable-pair stress set (未/末, 田/由/甲/申, 己/已/巳, 媤/媳, …) where the midpoint baseline is known to struggle</a:t>
            </a:r>
          </a:p>
          <a:p>
            <a:pPr lvl="1"/>
            <a:r>
              <a:rPr lang="en-US" dirty="0"/>
              <a:t>(if time permits,) use photo taken by pi camera</a:t>
            </a:r>
          </a:p>
        </p:txBody>
      </p:sp>
    </p:spTree>
    <p:extLst>
      <p:ext uri="{BB962C8B-B14F-4D97-AF65-F5344CB8AC3E}">
        <p14:creationId xmlns:p14="http://schemas.microsoft.com/office/powerpoint/2010/main" val="34395894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천체">
  <a:themeElements>
    <a:clrScheme name="천체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천체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천체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TM03457452[[fn=천체]]</Template>
  <TotalTime>123</TotalTime>
  <Words>649</Words>
  <Application>Microsoft Office PowerPoint</Application>
  <PresentationFormat>와이드스크린</PresentationFormat>
  <Paragraphs>57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천체</vt:lpstr>
      <vt:lpstr>Sinograph Explorer</vt:lpstr>
      <vt:lpstr>Problem Statement</vt:lpstr>
      <vt:lpstr>Project Goal</vt:lpstr>
      <vt:lpstr>Overall Workflow</vt:lpstr>
      <vt:lpstr>Canonical DB</vt:lpstr>
      <vt:lpstr>Synth Engine</vt:lpstr>
      <vt:lpstr>Training Engine</vt:lpstr>
      <vt:lpstr>Training Engine</vt:lpstr>
      <vt:lpstr>Training Engine</vt:lpstr>
      <vt:lpstr>Final Demo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Yoonkyu</dc:creator>
  <cp:lastModifiedBy>Lee, Yoonkyu</cp:lastModifiedBy>
  <cp:revision>2</cp:revision>
  <dcterms:created xsi:type="dcterms:W3CDTF">2026-04-23T14:55:56Z</dcterms:created>
  <dcterms:modified xsi:type="dcterms:W3CDTF">2026-04-23T16:59:02Z</dcterms:modified>
</cp:coreProperties>
</file>